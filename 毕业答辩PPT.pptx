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85" y="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E4F0"/>
                </a:solidFill>
                <a:latin typeface="Microsoft YaHei"/>
              </a:defRPr>
            </a:pPr>
            <a:r>
              <a:t>北华航天工业学院 · 计算机学院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基于Yolo与MediaPipe的</a:t>
            </a:r>
            <a:br/>
            <a:r>
              <a:t>实时人体姿势识别系统设计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023360"/>
            <a:ext cx="36576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D6E4F0"/>
                </a:solidFill>
                <a:latin typeface="Microsoft YaHei"/>
              </a:defRPr>
            </a:pPr>
            <a:r>
              <a:t>答辩人：胡祖发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D6E4F0"/>
                </a:solidFill>
                <a:latin typeface="Microsoft YaHei"/>
              </a:defRPr>
            </a:pPr>
            <a:r>
              <a:t>专  业：计算机科学与技术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D6E4F0"/>
                </a:solidFill>
                <a:latin typeface="Microsoft YaHei"/>
              </a:defRPr>
            </a:pPr>
            <a:r>
              <a:t>指导老师：李新荣 副教授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D6E4F0"/>
                </a:solidFill>
                <a:latin typeface="Microsoft YaHei"/>
              </a:defRPr>
            </a:pPr>
            <a:r>
              <a:t>学  号：2022051234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91440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02920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17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技术挑战分析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5029200" cy="91440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060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68880"/>
            <a:ext cx="502920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060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关键技术：骨架提取与背景解耦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029200" cy="91440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94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关键技术：YOLO11-MSCA 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502920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94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关键技术：时域滤波与告警判定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5029200" cy="914400"/>
          </a:xfrm>
          <a:prstGeom prst="round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83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实验结果与分析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46320"/>
            <a:ext cx="502920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89204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983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创新点总结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一、研究背景与意义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▎现实问题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长期不良坐姿 → 颈椎病发病率 47%，腰椎问题 &gt; 38%</a:t>
            </a: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• 现有方案局限性：</a:t>
            </a:r>
          </a:p>
          <a:p>
            <a:pPr>
              <a:spcAft>
                <a:spcPts val="4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   定时提醒 — 无法感知真实姿态</a:t>
            </a:r>
          </a:p>
          <a:p>
            <a:pPr>
              <a:spcAft>
                <a:spcPts val="4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   压力传感座垫 — 成本高、不便携</a:t>
            </a:r>
          </a:p>
          <a:p>
            <a:pPr>
              <a:spcAft>
                <a:spcPts val="400"/>
              </a:spcAft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   单阈值检测 — 无法识别侧倾等细粒度姿态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25603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▎本系统方案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非接触式：普通摄像头即可部署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细粒度识别：6 类坐姿精准分类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背景解耦：MediaPipe 骨架提取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智能告警：持续时长判定 + 视觉提示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高实时性：GPU 下 &gt; 25 FPS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▎应用场景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🏢 办公室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长期伏案工作者</a:t>
            </a:r>
            <a:br/>
            <a:r>
              <a:t>坐姿健康监测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🏫 教室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892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学生课堂坐姿</a:t>
            </a:r>
            <a:br/>
            <a:r>
              <a:t>主动提醒纠正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🏠 居家办公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892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远程办公人群</a:t>
            </a:r>
            <a:br/>
            <a:r>
              <a:t>健康行为管理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🩺 康复监测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4892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脊柱术后康复</a:t>
            </a:r>
            <a:br/>
            <a:r>
              <a:t>姿态辅助训练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二、技术挑战分析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背景噪声干扰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复杂光照、杂乱背景、</a:t>
            </a:r>
            <a:br/>
            <a:r>
              <a:t>服饰差异影响识别精度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D7D31"/>
                </a:solidFill>
                <a:latin typeface="Microsoft YaHei"/>
              </a:defRPr>
            </a:pPr>
            <a:r>
              <a:t>帧间抖动严重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检测框位置和类别</a:t>
            </a:r>
            <a:br/>
            <a:r>
              <a:t>在连续帧间高频振荡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1371600"/>
            <a:ext cx="640080" cy="6400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YaHei"/>
              </a:defRPr>
            </a:pPr>
            <a:r>
              <a:t>误报率控制难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瞬时检测错误导致</a:t>
            </a:r>
            <a:br/>
            <a:r>
              <a:t>频繁无效报警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0" y="1371600"/>
            <a:ext cx="640080" cy="64008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实时性要求高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需在消费级 GPU 上</a:t>
            </a:r>
            <a:br/>
            <a:r>
              <a:t>稳定 &gt; 25 FPS 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11430000" cy="2926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▎应对策略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① 背景干扰 → MediaPipe 黑底骨架重绘（视觉解耦）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D7D31"/>
                </a:solidFill>
                <a:latin typeface="Microsoft YaHei"/>
              </a:defRPr>
            </a:pPr>
            <a:r>
              <a:t>→ 彻底消除背景/光照/服饰干扰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② 帧间抖动 → TWBF + SWVF 双级时域滤波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D7D31"/>
                </a:solidFill>
                <a:latin typeface="Microsoft YaHei"/>
              </a:defRPr>
            </a:pPr>
            <a:r>
              <a:t>→ 检测框平滑 + 类别多数投票稳定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③ 误报控制 → DBA 持续时长判定（≥3s）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D7D31"/>
                </a:solidFill>
                <a:latin typeface="Microsoft YaHei"/>
              </a:defRPr>
            </a:pPr>
            <a:r>
              <a:t>→ 滤除瞬时误判，仅对真实异常告警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④ 实时性 → FP16 + cuDNN + 跳帧联合优化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D7D31"/>
                </a:solidFill>
                <a:latin typeface="Microsoft YaHei"/>
              </a:defRPr>
            </a:pPr>
            <a:r>
              <a:t>→ 端到端延迟从 112ms 降至 49ms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三、系统总体架构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" y="2011680"/>
            <a:ext cx="1691640" cy="23774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208483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📷 视频输入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1460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摄像头/视频文件</a:t>
            </a:r>
            <a:br/>
            <a:r>
              <a:t>BGR 帧 (H×W×3)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8528" y="3017520"/>
            <a:ext cx="420624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77440" y="2011680"/>
            <a:ext cx="1691640" cy="23774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208483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🔍 骨架提取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1460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MediaPipe BlazePose</a:t>
            </a:r>
            <a:br/>
            <a:r>
              <a:t>33 关键点 → 黑底骨架图</a:t>
            </a:r>
            <a:br/>
            <a:r>
              <a:t>跳帧策略 (N=2)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87368" y="3017520"/>
            <a:ext cx="420624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6280" y="2011680"/>
            <a:ext cx="1691640" cy="23774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🧠 核心推理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YOLO11-MSCA 模型</a:t>
            </a:r>
            <a:br/>
            <a:r>
              <a:t>P3/P4/P5 + MSCAAttention</a:t>
            </a:r>
            <a:br/>
            <a:r>
              <a:t>LetterBox(640) + NMS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36208" y="3017520"/>
            <a:ext cx="420624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0" y="2011680"/>
            <a:ext cx="1691640" cy="2377440"/>
          </a:xfrm>
          <a:prstGeom prst="roundRect">
            <a:avLst/>
          </a:prstGeom>
          <a:solidFill>
            <a:srgbClr val="44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08483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📊 时域平滑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1460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TWBF 框融合</a:t>
            </a:r>
            <a:br/>
            <a:r>
              <a:t>(T=5, λ=0.7)</a:t>
            </a:r>
            <a:br/>
            <a:r>
              <a:t>指数衰减加权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85048" y="3017520"/>
            <a:ext cx="420624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23960" y="2011680"/>
            <a:ext cx="1691640" cy="23774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0" y="208483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🗳️ 类别稳定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51460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SWVF 投票滤波</a:t>
            </a:r>
            <a:br/>
            <a:r>
              <a:t>(W=10, ≥50%)</a:t>
            </a:r>
            <a:br/>
            <a:r>
              <a:t>多数投票输出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533888" y="3017520"/>
            <a:ext cx="420624" cy="32004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972800" y="2011680"/>
            <a:ext cx="1691640" cy="23774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018520" y="208483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⏱️ 告警判定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251460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DBA 持续时长判定</a:t>
            </a:r>
            <a:br/>
            <a:r>
              <a:t>异常 ≥3s → 触发告警</a:t>
            </a:r>
            <a:br/>
            <a:r>
              <a:t>中文大字显示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11612880" cy="1645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▎四层架构设计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265176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数据采集层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60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OpenCV 摄像头/视频文件读取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212080"/>
            <a:ext cx="265176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预处理层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760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MediaPipe BP → 黑底重绘 → ROI 裁剪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212080"/>
            <a:ext cx="265176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核心算法层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760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YOLO11-MSCA 特征提取 → 分类推理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5212080"/>
            <a:ext cx="265176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52303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业务逻辑层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60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TWBF+SWVF 时域滤波 → DBA 告警 → 可视化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四、关键技术：骨架提取与背景解耦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760720" cy="228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▎骨架生成流程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① 原始帧 (BGR) → MediaPipe BlazePose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② 提取 33 个 3D 关键点坐标 + 置信度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③ 可见度过滤 (τ=0.3)，丢弃下肢节点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④ 全零黑底图上绘制关键点 + 连接线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⑤ 自适应 ROI 裁剪 (外扩 25%)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⑥ 跳帧策略：每 N=2 帧执行，中间帧复用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▎关键点拓扑（上半身聚焦）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保留关键点（10个）：鼻(0)、左/右眼(1,2)、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左/右耳(3,4)、左/右肩(11,12)、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左/右肘(13,14)、左/右腕(15,16)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C00000"/>
                </a:solidFill>
                <a:latin typeface="Microsoft YaHei"/>
              </a:defRPr>
            </a:pPr>
            <a:r>
              <a:t>丢弃下肢节点原因：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办公场景下半身被桌面遮挡，下肢盲猜会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降低分类模型准确率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11430000" cy="2743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▎背景解耦效果验证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274320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原始 RGB 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297680"/>
            <a:ext cx="182880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325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0.896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4297680"/>
            <a:ext cx="182880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0" y="4325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0.889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297680"/>
            <a:ext cx="274320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4325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0.731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4515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672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灰度帧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64515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46725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0.901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464515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60" y="46725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0.894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464515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0" y="4672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0.756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9262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0200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人体框 ROI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99262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5020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0.912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99262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94960" y="5020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0.906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499262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60" y="50200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0.812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40096"/>
            <a:ext cx="27432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5367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✅ 骨架黑底图（本系统）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5340096"/>
            <a:ext cx="18288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0" y="5367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0.943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5340096"/>
            <a:ext cx="18288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60" y="5367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0.933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5340096"/>
            <a:ext cx="27432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0" y="5367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0.921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3276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D7D31"/>
                </a:solidFill>
                <a:latin typeface="Microsoft YaHei"/>
              </a:defRPr>
            </a:pPr>
            <a:r>
              <a:t>💡 骨架图像在跨场景迁移测试上比 RGB 高 +19.0pp，验证了背景解耦策略的必要性与有效性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五、关键技术：YOLO11-MSCA 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760720" cy="2743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▎模型结构 YOLO11m + MSCAAttention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Backbone: C3k2 + C2PSA + SPPF 特征提取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Neck: FPN + PAN 多尺度特征融合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检测头创新 — MSCAAttention 插入位置：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P3 (80×80) → C3k2 → MSCAAttention(256)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P4 (40×40) → C3k2 → MSCAAttention(512)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P5 (20×20) → C3k2 → MSCAAttention(1024)</a:t>
            </a:r>
          </a:p>
          <a:p>
            <a:pPr>
              <a:spcAft>
                <a:spcPts val="400"/>
              </a:spcAft>
              <a:defRPr sz="1400" b="0">
                <a:solidFill>
                  <a:srgbClr val="2E75B6"/>
                </a:solidFill>
                <a:latin typeface="Microsoft YaHei"/>
              </a:defRPr>
            </a:pPr>
            <a:r>
              <a:t>  └─────── Detect(6) 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2743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▎MSCAAttention 设计原理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多分支深度可分离条形卷积：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分支1: DWConv 5×5 (基础感受野)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分支2: DWConv 1×7 → 7×1 (等效 7)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分支3: DWConv 1×11 → 11×1 (等效 11)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分支4: DWConv 1×21 → 21×1 (等效 21)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500" b="1">
                <a:solidFill>
                  <a:srgbClr val="00B050"/>
                </a:solidFill>
                <a:latin typeface="Microsoft YaHei"/>
              </a:defRPr>
            </a:pPr>
            <a:r>
              <a:t>优势：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大核分解为 H+V 条形卷积对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复杂度 O(k²)→O(2k)，大幅降低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三尺度并行 → 头部/肩部/躯干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不同跨度依赖关系同时建模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参数量仅增 0.7M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06240"/>
            <a:ext cx="11430000" cy="2286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▎模型参数与对比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228600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7823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YOLOv8m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754880"/>
            <a:ext cx="164592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47823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25.9M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754880"/>
            <a:ext cx="164592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47823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0.908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754880"/>
            <a:ext cx="164592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7823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0.892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4754880"/>
            <a:ext cx="1645920" cy="347472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47823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31.4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023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1297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YOLO11n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510235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63240" y="51297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2.6M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510235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51297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0.883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10235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51297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0.867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510235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01000" y="51297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56.7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4982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4772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YOLO11m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544982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63240" y="54772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20.1M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544982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54772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0.921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44982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54772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0.906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544982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01000" y="54772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30.1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797296"/>
            <a:ext cx="228600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58247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YOLO11m-MSCA 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797296"/>
            <a:ext cx="16459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63240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20.8M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5797296"/>
            <a:ext cx="16459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09160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0.943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797296"/>
            <a:ext cx="16459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0.933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80" y="5797296"/>
            <a:ext cx="16459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01000" y="5824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050"/>
                </a:solidFill>
                <a:latin typeface="Microsoft YaHei"/>
              </a:defRPr>
            </a:pPr>
            <a:r>
              <a:t>27.4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492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D7D31"/>
                </a:solidFill>
                <a:latin typeface="Microsoft YaHei"/>
              </a:defRPr>
            </a:pPr>
            <a:r>
              <a:t>✦ 相比基线 YOLO11m：mAP@0.5 ↑+2.2pp，F1 ↑+2.7pp，参数量仅 +0.7M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六、关键技术：时域滤波与告警判定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① TWBF — 时域加权框融合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作用：平滑检测框位置抖动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方案：维护历史队列 T=5，IoU ≥ 0.4 匹配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加权规则：λ=0.7 指数衰减，近帧权重高</a:t>
            </a:r>
          </a:p>
          <a:p>
            <a:pPr>
              <a:spcAft>
                <a:spcPts val="400"/>
              </a:spcAft>
              <a:defRPr sz="1400" b="1">
                <a:solidFill>
                  <a:srgbClr val="00B050"/>
                </a:solidFill>
                <a:latin typeface="Microsoft YaHei"/>
              </a:defRPr>
            </a:pPr>
            <a:r>
              <a:t>效果：检测框振荡率从 12.4% → 7.1% ↓5.3pp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25603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② SWVF — 滑动窗口投票滤波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作用：稳定分类结果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方案：维护窗口 W=10 帧，多数投票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稳定条件：得票率 ≥ 50% 且 ≥ 3 票</a:t>
            </a:r>
          </a:p>
          <a:p>
            <a:pPr>
              <a:spcAft>
                <a:spcPts val="400"/>
              </a:spcAft>
              <a:defRPr sz="1400" b="1">
                <a:solidFill>
                  <a:srgbClr val="00B050"/>
                </a:solidFill>
                <a:latin typeface="Microsoft YaHei"/>
              </a:defRPr>
            </a:pPr>
            <a:r>
              <a:t>效果：类别振荡率 12.4% → 2.1% ↓10.3pp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1430000" cy="24688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③ DBA — 持续时长告警判定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异常类别：body_left/right, head_left/right, lying_down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告警阈值：异常持续 ≥ 3.0s 触发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重置策略：姿态切换立即重置计时器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展示方式：PIL 渲染中文大字 52px（"持续状态异常：头左倾"）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389120"/>
            <a:ext cx="4114800" cy="164592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448056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三级协同效果</a:t>
            </a:r>
          </a:p>
          <a:p>
            <a:pPr algn="ctr"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类别振荡率：2.1% ↘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误报率：1.4% ↘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告警延迟：~0.21s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六类坐姿定义与识别结果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24688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16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正常坐姿 (normal)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7280" cy="3200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✅ 正常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737360"/>
            <a:ext cx="109728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F1: 96.0%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躯干竖直，头部居中</a:t>
            </a:r>
            <a:br/>
            <a:r>
              <a:t>肩线水平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566160" cy="24688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5661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216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身体左倾 (body_left)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737360"/>
            <a:ext cx="1097280" cy="3200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⚠️ 异常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737360"/>
            <a:ext cx="109728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F1: 92.9%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94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肩线左高右低</a:t>
            </a:r>
            <a:br/>
            <a:r>
              <a:t>躯干整体左偏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3566160" cy="24688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1216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身体右倾 (body_right)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1737360"/>
            <a:ext cx="1097280" cy="3200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⚠️ 异常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0" y="1737360"/>
            <a:ext cx="109728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F1: 92.7%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94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肩线右高左低</a:t>
            </a:r>
            <a:br/>
            <a:r>
              <a:t>躯干整体右偏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31920"/>
            <a:ext cx="3566160" cy="24688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35661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959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头左倾 (head_left)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480560"/>
            <a:ext cx="1097280" cy="3200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⚠️ 异常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480560"/>
            <a:ext cx="109728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F1: 91.8%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头部相对肩部左偏</a:t>
            </a:r>
            <a:br/>
            <a:r>
              <a:t>颈椎弯曲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931920"/>
            <a:ext cx="3566160" cy="24688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97680" y="3931920"/>
            <a:ext cx="35661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0" y="3959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头右倾 (head_right)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4480560"/>
            <a:ext cx="1097280" cy="3200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⚠️ 异常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480560"/>
            <a:ext cx="109728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F1: 91.6%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头部相对肩部右偏</a:t>
            </a:r>
            <a:br/>
            <a:r>
              <a:t>颈椎弯曲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3931920"/>
            <a:ext cx="3566160" cy="24688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38160" y="3931920"/>
            <a:ext cx="35661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0" y="3959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趴下/躺卧 (lying_down)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480560"/>
            <a:ext cx="1097280" cy="3200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4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⚠️ 异常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24160" y="4480560"/>
            <a:ext cx="109728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2416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F1: 95.1%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937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躯干水平</a:t>
            </a:r>
            <a:br/>
            <a:r>
              <a:t>关键点分布极小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七、实验结果与分析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43200" cy="13716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6E4F0"/>
                </a:solidFill>
                <a:latin typeface="Microsoft YaHei"/>
              </a:defRPr>
            </a:pPr>
            <a:r>
              <a:t>mAP@0.5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0.943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D7D31"/>
                </a:solidFill>
                <a:latin typeface="Microsoft YaHei"/>
              </a:defRPr>
            </a:pPr>
            <a:r>
              <a:t>↑+2.2pp vs 基线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88720"/>
            <a:ext cx="2743200" cy="13716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6E4F0"/>
                </a:solidFill>
                <a:latin typeface="Microsoft YaHei"/>
              </a:defRPr>
            </a:pPr>
            <a:r>
              <a:t>加权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0.933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D7D31"/>
                </a:solidFill>
                <a:latin typeface="Microsoft YaHei"/>
              </a:defRPr>
            </a:pPr>
            <a:r>
              <a:t>↑+2.7pp vs 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13716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6E4F0"/>
                </a:solidFill>
                <a:latin typeface="Microsoft YaHei"/>
              </a:defRPr>
            </a:pPr>
            <a:r>
              <a:t>FPS (GPU)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27.4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D7D31"/>
                </a:solidFill>
                <a:latin typeface="Microsoft YaHei"/>
              </a:defRPr>
            </a:pPr>
            <a:r>
              <a:t>↑+11.2 vs 未优化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743200" cy="13716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6E4F0"/>
                </a:solidFill>
                <a:latin typeface="Microsoft YaHei"/>
              </a:defRPr>
            </a:pPr>
            <a:r>
              <a:t>误报率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D7D31"/>
                </a:solidFill>
                <a:latin typeface="Microsoft YaHei"/>
              </a:defRPr>
            </a:pPr>
            <a:r>
              <a:t>↓-7.3pp vs 无滤波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5669280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▎注意力机制横向对比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31012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基线(无)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291840"/>
            <a:ext cx="13716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23160" y="33101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0.921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3291840"/>
            <a:ext cx="13716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33101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0.906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118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6301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611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23160" y="36301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3611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4760" y="36301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395020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CBAM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93192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23160" y="395020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393192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94760" y="395020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519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42702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425196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2316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425196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94760" y="42702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572000"/>
            <a:ext cx="182880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5902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MSCA 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572000"/>
            <a:ext cx="137160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23160" y="459028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0.943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4572000"/>
            <a:ext cx="137160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94760" y="459028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0.933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834640"/>
            <a:ext cx="5486400" cy="36576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▎时域后处理消融实验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3291840"/>
            <a:ext cx="18288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29400" y="331012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无后处理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291840"/>
            <a:ext cx="118872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58200" y="33101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12.4%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3291840"/>
            <a:ext cx="118872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46920" y="33101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8.7%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36118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29400" y="36301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+TWBF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36118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58200" y="363016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7.1%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36118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46920" y="363016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6.2%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393192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29400" y="395020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+SWVF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12480" y="393192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58200" y="39502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01200" y="393192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646920" y="39502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0" y="4251960"/>
            <a:ext cx="182880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29400" y="42702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+TWBF+SWVF 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12480" y="4251960"/>
            <a:ext cx="118872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458200" y="427024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2.1%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01200" y="4251960"/>
            <a:ext cx="118872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646920" y="427024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1.4%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推理性能优化与端到端延迟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943600" cy="25603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▎优化策略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8288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MediaPipe 跳帧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737360"/>
            <a:ext cx="18288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17556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N=2 缓存复用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13716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7556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耗时 ↓50%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cuDNN Benchmark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05740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20756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benchmark=True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05740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207568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吞吐 ↑5~15%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7744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39572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FP16 半精度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37744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23160" y="239572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model.fp16+half()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37744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60" y="239572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速度 ↑30%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974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27157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模型 Warmup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6974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23160" y="27157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零张量预热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6974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60" y="27157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消除首帧延迟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01752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303580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摄像头缓冲区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301752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BUFFERSIZE=1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01752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51960" y="303580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端到端延迟 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3375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3558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no_grad()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3375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23160" y="33558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禁用梯度计算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33756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51960" y="335584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显存 ↓15%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1188720"/>
            <a:ext cx="5212080" cy="25603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6656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▎各优化叠加效果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1737360"/>
            <a:ext cx="182880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12280" y="17556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基础 (FP32)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1737360"/>
            <a:ext cx="118872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175564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16.2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1737360"/>
            <a:ext cx="1188720" cy="320040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29800" y="175564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112ms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205740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207568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+ FP16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205740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41080" y="2075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21.8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84080" y="205740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29800" y="207568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78ms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237744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239572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+ cuDNN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237744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41080" y="23957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23.4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237744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829800" y="23957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71ms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66560" y="26974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12280" y="27157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+ 跳帧 N=2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95360" y="26974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41080" y="271576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26.7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84080" y="26974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29800" y="271576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53ms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12280" y="303580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✦ 全部优化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95360" y="3017520"/>
            <a:ext cx="118872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641080" y="30358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27.4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84080" y="3017520"/>
            <a:ext cx="118872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29800" y="30358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  <a:latin typeface="Microsoft YaHei"/>
              </a:defRPr>
            </a:pPr>
            <a:r>
              <a:t>49ms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864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▎可视化界面设计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8640" y="4572000"/>
            <a:ext cx="5303520" cy="1645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主窗口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983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主窗口：实时显示检测框</a:t>
            </a:r>
            <a:br/>
            <a:r>
              <a:t>正常 绿色 / 异常 红色</a:t>
            </a:r>
            <a:br/>
            <a:r>
              <a:t>FPS 实时显示 + 类别统计</a:t>
            </a:r>
            <a:br/>
            <a:r>
              <a:t>滑动窗口滤波状态</a:t>
            </a:r>
            <a:br/>
            <a:r>
              <a:t>中文告警（异常持续 + 秒数）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09359" y="4572000"/>
            <a:ext cx="5303520" cy="1645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00799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辅助窗口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799" y="4983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辅助窗口 (960×480)：</a:t>
            </a:r>
            <a:br/>
            <a:r>
              <a:t>左：ROI 区域（彩色裁剪）</a:t>
            </a:r>
            <a:br/>
            <a:r>
              <a:t>右：骨架输入（黑底白线）</a:t>
            </a:r>
            <a:br/>
            <a:r>
              <a:t>固定尺寸避免闪烁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逐类别性能详情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029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▎YOLO11m-MSCA 各类别测试指标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200400" cy="384048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normal（正常）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828800"/>
            <a:ext cx="1371600" cy="384048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1865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0.958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828800"/>
            <a:ext cx="1371600" cy="384048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865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0.962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1371600" cy="384048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865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0.960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828800"/>
            <a:ext cx="1371600" cy="384048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865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0.971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1371600" cy="384048"/>
          </a:xfrm>
          <a:prstGeom prst="rect">
            <a:avLst/>
          </a:prstGeom>
          <a:solidFill>
            <a:srgbClr val="1A3C6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1865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12848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24942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body_left（身体左倾）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4760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0.944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22494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596896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2633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body_right（身体右倾）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25968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4760" y="2633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25968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66360" y="2633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5968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2633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5968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2633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25968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81160" y="26334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98094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301752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left_support_head（头左倾）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29809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94760" y="30175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29809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66360" y="30175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9809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30175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29809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30175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0.932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29809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81160" y="30175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168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364992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340156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right_support_head（头右倾）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336499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94760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0.918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336499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66360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336499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60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336499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09560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0.929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35440" y="336499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81160" y="34015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163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749040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94360" y="378561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lying_down（趴伏/躺卧）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9040" y="37490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794760" y="3785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0.953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37490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66360" y="3785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0.949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37490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37960" y="3785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0.951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63840" y="37490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909560" y="3785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0.964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35440" y="37490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281160" y="37856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127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4133088"/>
            <a:ext cx="32004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4360" y="41696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加权平均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40" y="4133088"/>
            <a:ext cx="13716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794760" y="4169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0.935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4133088"/>
            <a:ext cx="13716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66360" y="4169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0.931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133088"/>
            <a:ext cx="13716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537960" y="4169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0.933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4133088"/>
            <a:ext cx="13716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909560" y="4169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0.943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235440" y="4133088"/>
            <a:ext cx="137160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281160" y="4169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t>1,180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💡 normal 与 lying_down 骨架形态差异明显，识别精度最高（F1 ≥ 95%）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⚠️ 头左倾/右倾因与身体倾斜存在形态相似性，F1 相对较低（91.6%~91.8%）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✅ MSCAAttention 多尺度条形卷积有效提升了细粒度姿态的区分能力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八、创新点总结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01  骨架解耦输入策略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743200" cy="1828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MediaPipe 黑底骨架图替代 RGB 帧</a:t>
            </a:r>
            <a:br/>
            <a:r>
              <a:t>彻底消除背景/光照/服饰干扰</a:t>
            </a:r>
            <a:br/>
            <a:r>
              <a:t>跨场景泛化能力 ↑19.0pp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02  MSCAAttention 注意力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2743200" cy="1828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多尺度条形卷积并行建模</a:t>
            </a:r>
            <a:br/>
            <a:r>
              <a:t>等效感受野 7/11/21 三尺度</a:t>
            </a:r>
            <a:br/>
            <a:r>
              <a:t>参数仅 +0.7M，mAP ↑2.2pp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03  双级时域滤波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2743200" cy="1828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TWBF 框融合 + SWVF 投票稳定</a:t>
            </a:r>
            <a:br/>
            <a:r>
              <a:t>振荡率 12.4% → 2.1%</a:t>
            </a:r>
            <a:br/>
            <a:r>
              <a:t>误报率 8.7% → 1.4%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04  持续时长告警判定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828800"/>
            <a:ext cx="2743200" cy="1828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DBA ≥3s 阈值状态机</a:t>
            </a:r>
            <a:br/>
            <a:r>
              <a:t>滤除瞬时误判</a:t>
            </a:r>
            <a:br/>
            <a:r>
              <a:t>用户感知体验显著提升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▎系统核心指标汇总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Microsoft YaHei"/>
              </a:defRPr>
            </a:pPr>
            <a:r>
              <a:t>识别能力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 类坐姿识别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Microsoft YaHei"/>
              </a:defRPr>
            </a:pPr>
            <a:r>
              <a:t>mAP@0.5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0.943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Microsoft YaHei"/>
              </a:defRPr>
            </a:pPr>
            <a:r>
              <a:t>推理帧率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27.4 FPS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Microsoft YaHei"/>
              </a:defRPr>
            </a:pPr>
            <a:r>
              <a:t>误报率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Microsoft YaHei"/>
              </a:defRPr>
            </a:pPr>
            <a:r>
              <a:t>端到端延迟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49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D7D31"/>
                </a:solidFill>
                <a:latin typeface="Microsoft YaHei"/>
              </a:defRPr>
            </a:pPr>
            <a:r>
              <a:t>部署条件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NVIDIA GPU</a:t>
            </a:r>
            <a:br/>
            <a:r>
              <a:t>普通摄像头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感谢各位老师聆听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6E4F0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017520"/>
            <a:ext cx="27432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答辩人：胡祖发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E4F0"/>
                </a:solidFill>
                <a:latin typeface="Microsoft YaHei"/>
              </a:defRPr>
            </a:pPr>
            <a:r>
              <a:t>指导老师：李新荣 副教授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4F0"/>
                </a:solidFill>
                <a:latin typeface="Microsoft YaHei"/>
              </a:defRPr>
            </a:pPr>
            <a:r>
              <a:t>北华航天工业学院 · 计算机学院 · 计算机科学与技术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D7D31"/>
                </a:solidFill>
                <a:latin typeface="Microsoft YaHei"/>
              </a:defRPr>
            </a:pPr>
            <a:r>
              <a:t>欢迎提问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1347</Words>
  <Application>Microsoft Office PowerPoint</Application>
  <PresentationFormat>宽屏</PresentationFormat>
  <Paragraphs>387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祖发 胡</cp:lastModifiedBy>
  <cp:revision>1</cp:revision>
  <dcterms:created xsi:type="dcterms:W3CDTF">2013-01-27T09:14:16Z</dcterms:created>
  <dcterms:modified xsi:type="dcterms:W3CDTF">2026-06-06T03:41:06Z</dcterms:modified>
  <cp:category/>
</cp:coreProperties>
</file>